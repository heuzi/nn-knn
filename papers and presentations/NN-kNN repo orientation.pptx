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3152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53312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1F262D"/>
                </a:solidFill>
                <a:latin typeface="Aptos"/>
              </a:rPr>
              <a:t>Neural Case-Based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95728"/>
            <a:ext cx="98755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606970"/>
                </a:solidFill>
                <a:latin typeface="Aptos"/>
              </a:rPr>
              <a:t>Repository orientation for classification, regression, and CartPole RL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703320"/>
            <a:ext cx="2331720" cy="411480"/>
          </a:xfrm>
          <a:prstGeom prst="rect">
            <a:avLst/>
          </a:prstGeom>
          <a:solidFill>
            <a:srgbClr val="DCF1ED"/>
          </a:solidFill>
          <a:ln>
            <a:solidFill>
              <a:srgbClr val="DC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8077"/>
                </a:solidFill>
                <a:latin typeface="Aptos"/>
              </a:rPr>
              <a:t>learn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3703320"/>
            <a:ext cx="2697480" cy="411480"/>
          </a:xfrm>
          <a:prstGeom prst="rect">
            <a:avLst/>
          </a:prstGeom>
          <a:solidFill>
            <a:srgbClr val="F9EFD3"/>
          </a:solidFill>
          <a:ln>
            <a:solidFill>
              <a:srgbClr val="F9E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D69D3D"/>
                </a:solidFill>
                <a:latin typeface="Aptos"/>
              </a:rPr>
              <a:t>weight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3703320"/>
            <a:ext cx="2743200" cy="411480"/>
          </a:xfrm>
          <a:prstGeom prst="rect">
            <a:avLst/>
          </a:prstGeom>
          <a:solidFill>
            <a:srgbClr val="E1E8F8"/>
          </a:solidFill>
          <a:ln>
            <a:solidFill>
              <a:srgbClr val="E1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4669B1"/>
                </a:solidFill>
                <a:latin typeface="Aptos"/>
              </a:rPr>
              <a:t>aggregate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25712" y="3703320"/>
            <a:ext cx="2148840" cy="411480"/>
          </a:xfrm>
          <a:prstGeom prst="rect">
            <a:avLst/>
          </a:prstGeom>
          <a:solidFill>
            <a:srgbClr val="F9E2DD"/>
          </a:solidFill>
          <a:ln>
            <a:solidFill>
              <a:srgbClr val="F9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F5C49"/>
                </a:solidFill>
                <a:latin typeface="Aptos"/>
              </a:rPr>
              <a:t>adapt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What NN-kNN Is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A neural retrieval model that keeps case-based structure 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342900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221992"/>
            <a:ext cx="30266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8077"/>
                </a:solidFill>
                <a:latin typeface="Aptos"/>
              </a:rPr>
              <a:t>Case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624328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Training examples remain stored as retrievable cases.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Queries compare against all stored cases in representation space.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057400"/>
            <a:ext cx="342900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221992"/>
            <a:ext cx="30266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9D3D"/>
                </a:solidFill>
                <a:latin typeface="Aptos"/>
              </a:rPr>
              <a:t>Glocal Weighting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624328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Feature dimensions are reweighted during distance computation.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Activations are normalized over cases with softmax or sparsemax.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057400"/>
            <a:ext cx="342900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2221992"/>
            <a:ext cx="30266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669B1"/>
                </a:solidFill>
                <a:latin typeface="Aptos"/>
              </a:rPr>
              <a:t>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624328"/>
            <a:ext cx="302666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Classification sums activation into class probability mass.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Regression can use NN-CDH after retrieval for adaptation.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Retrieval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The maintained core stays common while task heads differ.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2240280"/>
            <a:ext cx="1417320" cy="585216"/>
          </a:xfrm>
          <a:prstGeom prst="rect">
            <a:avLst/>
          </a:prstGeom>
          <a:solidFill>
            <a:srgbClr val="DCF1ED"/>
          </a:solidFill>
          <a:ln>
            <a:solidFill>
              <a:srgbClr val="DCF1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68077"/>
                </a:solidFill>
                <a:latin typeface="Aptos"/>
              </a:rPr>
              <a:t>Input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76272" y="2532888"/>
            <a:ext cx="384048" cy="0"/>
          </a:xfrm>
          <a:prstGeom prst="line">
            <a:avLst/>
          </a:prstGeom>
          <a:ln w="25400">
            <a:solidFill>
              <a:srgbClr val="60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651760" y="2240280"/>
            <a:ext cx="1417320" cy="585216"/>
          </a:xfrm>
          <a:prstGeom prst="rect">
            <a:avLst/>
          </a:prstGeom>
          <a:solidFill>
            <a:srgbClr val="E1E8F8"/>
          </a:solidFill>
          <a:ln>
            <a:solidFill>
              <a:srgbClr val="E1E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4669B1"/>
                </a:solidFill>
                <a:latin typeface="Aptos"/>
              </a:rPr>
              <a:t>Project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0" y="2532888"/>
            <a:ext cx="411480" cy="0"/>
          </a:xfrm>
          <a:prstGeom prst="line">
            <a:avLst/>
          </a:prstGeom>
          <a:ln w="25400">
            <a:solidFill>
              <a:srgbClr val="60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617720" y="2240280"/>
            <a:ext cx="1417320" cy="585216"/>
          </a:xfrm>
          <a:prstGeom prst="rect">
            <a:avLst/>
          </a:prstGeom>
          <a:solidFill>
            <a:srgbClr val="F9EFD3"/>
          </a:solidFill>
          <a:ln>
            <a:solidFill>
              <a:srgbClr val="F9E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D69D3D"/>
                </a:solidFill>
                <a:latin typeface="Aptos"/>
              </a:rPr>
              <a:t>Distance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532888"/>
            <a:ext cx="457200" cy="0"/>
          </a:xfrm>
          <a:prstGeom prst="line">
            <a:avLst/>
          </a:prstGeom>
          <a:ln w="25400">
            <a:solidFill>
              <a:srgbClr val="60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629400" y="2240280"/>
            <a:ext cx="1417320" cy="585216"/>
          </a:xfrm>
          <a:prstGeom prst="rect">
            <a:avLst/>
          </a:prstGeom>
          <a:solidFill>
            <a:srgbClr val="F9E2DD"/>
          </a:solidFill>
          <a:ln>
            <a:solidFill>
              <a:srgbClr val="F9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F5C49"/>
                </a:solidFill>
                <a:latin typeface="Aptos"/>
              </a:rPr>
              <a:t>Normalize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92440" y="2532888"/>
            <a:ext cx="457200" cy="0"/>
          </a:xfrm>
          <a:prstGeom prst="line">
            <a:avLst/>
          </a:prstGeom>
          <a:ln w="25400">
            <a:solidFill>
              <a:srgbClr val="60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641080" y="2240280"/>
            <a:ext cx="1417320" cy="585216"/>
          </a:xfrm>
          <a:prstGeom prst="rect">
            <a:avLst/>
          </a:prstGeom>
          <a:solidFill>
            <a:srgbClr val="E3EFE1"/>
          </a:solidFill>
          <a:ln>
            <a:solidFill>
              <a:srgbClr val="E3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489464"/>
                </a:solidFill>
                <a:latin typeface="Aptos"/>
              </a:rPr>
              <a:t>Aggregate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10241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`normalize_over_cases` selects case-level normalization behavior.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Retrieval-only output and post-adaptation output are reported separately in regression work.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The same core supports tabular classification, regression, and experimental RL actors/critics.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Maintained Entry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Use workflow helpers rather than notebook-only implementations.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342900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93392"/>
            <a:ext cx="30266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8077"/>
                </a:solidFill>
                <a:latin typeface="Aptos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95728"/>
            <a:ext cx="302666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model/nnknn_model.py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model/nn_cdh.py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datasets/reg_data.py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42900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93392"/>
            <a:ext cx="30266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669B1"/>
                </a:solidFill>
                <a:latin typeface="Aptos"/>
              </a:rPr>
              <a:t>Supervised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395728"/>
            <a:ext cx="302666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model/regression_workflow.py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model/classification_workflow.py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tools/table1_nnknn_kfold.py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828800"/>
            <a:ext cx="342900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993392"/>
            <a:ext cx="302666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F5C49"/>
                </a:solidFill>
                <a:latin typeface="Aptos"/>
              </a:rPr>
              <a:t>Reinforcement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395728"/>
            <a:ext cx="302666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model/rl_workflow.py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model/nec_workflow.py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model/nnknn_rl_workflow.py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datasets/rl_tasks.py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Classification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Current classification uses the shared IJCAI-26 core.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257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Supported small datasets: iris, zebra, zebra_special, wine, breast_cancer, balance, digits.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Supported image workflows: MNIST, CIFAR-10, SVHN.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Baselines include kNN, MLP, ConvNet, and feature-kNN variants.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Text tasks are deferred to keep dependencies out of this workflow.</a:t>
            </a:r>
          </a:p>
        </p:txBody>
      </p:sp>
      <p:pic>
        <p:nvPicPr>
          <p:cNvPr id="6" name="Picture 5" descr="random vs case 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19"/>
            <a:ext cx="4754880" cy="3948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Regression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Regression reporting centers on retrieval, adaptation, and repeated benchmarks.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32461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39112"/>
            <a:ext cx="28437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8077"/>
                </a:solidFill>
                <a:latin typeface="Aptos"/>
              </a:rPr>
              <a:t>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441448"/>
            <a:ext cx="284378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Set `task_type="regression"` explicitly.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Prefer `model/regression_workflow.py` for orchestration.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874519"/>
            <a:ext cx="32461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2039112"/>
            <a:ext cx="28437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669B1"/>
                </a:solidFill>
                <a:latin typeface="Aptos"/>
              </a:rPr>
              <a:t>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441448"/>
            <a:ext cx="284378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Baselines: kNN(X), Oracle kNN, MLKR+kNN, MLP.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Keep the same split per method within a 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75320" y="1874519"/>
            <a:ext cx="324612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2039112"/>
            <a:ext cx="284378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D69D3D"/>
                </a:solidFill>
                <a:latin typeface="Aptos"/>
              </a:rPr>
              <a:t>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441448"/>
            <a:ext cx="284378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Separate retrieval-only and post-NN-CDH results.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Use mean/std summaries from repeated runs.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Table 1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The paper-style regression table is scripted and restartable.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7899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62D"/>
                </a:solidFill>
                <a:latin typeface="Aptos"/>
              </a:defRPr>
            </a:pPr>
            <a:r>
              <a:t>`tools/table1_nnknn_kfold.py` runs 5-fold CV across the current regression dataset list.</a:t>
            </a:r>
          </a:p>
          <a:p>
            <a:pPr>
              <a:spcAft>
                <a:spcPts val="900"/>
              </a:spcAft>
              <a:defRPr sz="1900">
                <a:solidFill>
                  <a:srgbClr val="1F262D"/>
                </a:solidFill>
                <a:latin typeface="Aptos"/>
              </a:defRPr>
            </a:pPr>
            <a:r>
              <a:t>Rows distinguish pure retrieval, adaptation, locality, and locality plus adaptation.</a:t>
            </a:r>
          </a:p>
          <a:p>
            <a:pPr>
              <a:spcAft>
                <a:spcPts val="900"/>
              </a:spcAft>
              <a:defRPr sz="1900">
                <a:solidFill>
                  <a:srgbClr val="1F262D"/>
                </a:solidFill>
                <a:latin typeface="Aptos"/>
              </a:defRPr>
            </a:pPr>
            <a:r>
              <a:t>Normalizers include softmax and sparsemax variants, with locality toggles.</a:t>
            </a:r>
          </a:p>
          <a:p>
            <a:pPr>
              <a:spcAft>
                <a:spcPts val="900"/>
              </a:spcAft>
              <a:defRPr sz="1900">
                <a:solidFill>
                  <a:srgbClr val="1F262D"/>
                </a:solidFill>
                <a:latin typeface="Aptos"/>
              </a:defRPr>
            </a:pPr>
            <a:r>
              <a:t>Write fresh timestamped folders under `results/`; keep failed folders for postmortem comparison.</a:t>
            </a:r>
          </a:p>
          <a:p>
            <a:pPr>
              <a:spcAft>
                <a:spcPts val="900"/>
              </a:spcAft>
              <a:defRPr sz="1900">
                <a:solidFill>
                  <a:srgbClr val="1F262D"/>
                </a:solidFill>
                <a:latin typeface="Aptos"/>
              </a:defRPr>
            </a:pPr>
            <a:r>
              <a:t>Recommended exports: summary_long.csv, runs_long.csv, table1_like.csv, transposed.csv, done.json.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RL Baseline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CartPole comparisons use fixed environment-step budgets and periodic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32918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93392"/>
            <a:ext cx="28895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669B1"/>
                </a:solidFill>
                <a:latin typeface="Aptos"/>
              </a:rPr>
              <a:t>DQN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95728"/>
            <a:ext cx="288950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CleanRL-style baseline.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Use best checkpoint plus end-of-budget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828800"/>
            <a:ext cx="32918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993392"/>
            <a:ext cx="28895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68077"/>
                </a:solidFill>
                <a:latin typeface="Aptos"/>
              </a:rPr>
              <a:t>NEC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395728"/>
            <a:ext cx="288950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Repo-native NEC workflow.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Current fast reference remains below success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1828800"/>
            <a:ext cx="329184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E1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1993392"/>
            <a:ext cx="28895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F5C49"/>
                </a:solidFill>
                <a:latin typeface="Aptos"/>
              </a:rPr>
              <a:t>NN-kNN-RL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2395728"/>
            <a:ext cx="288950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On-policy actor-critic with GAE.</a:t>
            </a:r>
          </a:p>
          <a:p>
            <a:pPr>
              <a:spcAft>
                <a:spcPts val="900"/>
              </a:spcAft>
              <a:defRPr sz="1250">
                <a:solidFill>
                  <a:srgbClr val="1F262D"/>
                </a:solidFill>
                <a:latin typeface="Aptos"/>
              </a:defRPr>
            </a:pPr>
            <a:r>
              <a:t>NN-kNN or MLP actor; MLP or NN-kNN value critic.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Current RL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Treat these artifacts as diagnostic, not solved benchmark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98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62D"/>
                </a:solidFill>
                <a:latin typeface="Aptos"/>
              </a:defRPr>
            </a:pPr>
            <a:r>
              <a:t>DQN fast run selected eval mean return: 110.85 at 110k steps; below the 475.0 success threshold.</a:t>
            </a:r>
          </a:p>
          <a:p>
            <a:pPr>
              <a:spcAft>
                <a:spcPts val="900"/>
              </a:spcAft>
              <a:defRPr sz="2000">
                <a:solidFill>
                  <a:srgbClr val="1F262D"/>
                </a:solidFill>
                <a:latin typeface="Aptos"/>
              </a:defRPr>
            </a:pPr>
            <a:r>
              <a:t>NEC fast run selected eval mean return: 450.55 at 150k steps; improved but still below threshold.</a:t>
            </a:r>
          </a:p>
          <a:p>
            <a:pPr>
              <a:spcAft>
                <a:spcPts val="900"/>
              </a:spcAft>
              <a:defRPr sz="2000">
                <a:solidFill>
                  <a:srgbClr val="1F262D"/>
                </a:solidFill>
                <a:latin typeface="Aptos"/>
              </a:defRPr>
            </a:pPr>
            <a:r>
              <a:t>NN-kNN-RL smoke path validates plumbing only; current NN-kNN critic comparison reached 369.5.</a:t>
            </a:r>
          </a:p>
          <a:p>
            <a:pPr>
              <a:spcAft>
                <a:spcPts val="900"/>
              </a:spcAft>
              <a:defRPr sz="2000">
                <a:solidFill>
                  <a:srgbClr val="1F262D"/>
                </a:solidFill>
                <a:latin typeface="Aptos"/>
              </a:defRPr>
            </a:pPr>
            <a:r>
              <a:t>Use `training_efficiency` before making sample-efficiency or paper-style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Fast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Small checks keep routine development cheap.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`python codex/smoke_test.py --mode imports`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`python codex/smoke_test.py --mode train`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`python codex/smoke_test.py --mode classification`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`python codex/smoke_test.py --mode rl`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`python codex/smoke_test.py --mode nec`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`python codex/smoke_test.py --mode nnknn_rl`</a:t>
            </a:r>
          </a:p>
          <a:p>
            <a:pPr>
              <a:spcAft>
                <a:spcPts val="900"/>
              </a:spcAft>
              <a:defRPr sz="1800">
                <a:solidFill>
                  <a:srgbClr val="1F262D"/>
                </a:solidFill>
                <a:latin typeface="Aptos"/>
              </a:defRPr>
            </a:pPr>
            <a:r>
              <a:t>Use synthetic datasets for quick validation unless the task requires larger real datasets.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Working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A few guardrails prevent confusing experiments.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F262D"/>
                </a:solidFill>
                <a:latin typeface="Aptos"/>
              </a:defRPr>
            </a:pPr>
            <a:r>
              <a:t>Treat `Outdated...` notebooks as archival only.</a:t>
            </a:r>
          </a:p>
          <a:p>
            <a:pPr>
              <a:spcAft>
                <a:spcPts val="900"/>
              </a:spcAft>
              <a:defRPr sz="1900">
                <a:solidFill>
                  <a:srgbClr val="1F262D"/>
                </a:solidFill>
                <a:latin typeface="Aptos"/>
              </a:defRPr>
            </a:pPr>
            <a:r>
              <a:t>Use notebooks for inspection; put serious repeated reporting in workflow/helper Python files.</a:t>
            </a:r>
          </a:p>
          <a:p>
            <a:pPr>
              <a:spcAft>
                <a:spcPts val="900"/>
              </a:spcAft>
              <a:defRPr sz="1900">
                <a:solidFill>
                  <a:srgbClr val="1F262D"/>
                </a:solidFill>
                <a:latin typeface="Aptos"/>
              </a:defRPr>
            </a:pPr>
            <a:r>
              <a:t>Do not overwrite run folders; create new timestamped artifacts under `results/`.</a:t>
            </a:r>
          </a:p>
          <a:p>
            <a:pPr>
              <a:spcAft>
                <a:spcPts val="900"/>
              </a:spcAft>
              <a:defRPr sz="1900">
                <a:solidFill>
                  <a:srgbClr val="1F262D"/>
                </a:solidFill>
                <a:latin typeface="Aptos"/>
              </a:defRPr>
            </a:pPr>
            <a:r>
              <a:t>For RL, fixed budgets plus best-checkpoint selection are required for fair DQN, NEC, and NN-kNN-RL comparisons.</a:t>
            </a:r>
          </a:p>
          <a:p>
            <a:pPr>
              <a:spcAft>
                <a:spcPts val="900"/>
              </a:spcAft>
              <a:defRPr sz="1900">
                <a:solidFill>
                  <a:srgbClr val="1F262D"/>
                </a:solidFill>
                <a:latin typeface="Aptos"/>
              </a:defRPr>
            </a:pPr>
            <a:r>
              <a:t>If success thresholds are never reached, interpret the run as possible underfit or unsolved.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68077"/>
                </a:solidFill>
                <a:latin typeface="Aptos"/>
              </a:rPr>
              <a:t>NN-kNN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1F262D"/>
                </a:solidFill>
                <a:latin typeface="Aptos"/>
              </a:rPr>
              <a:t>Recommended Next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10698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06970"/>
                </a:solidFill>
                <a:latin typeface="Aptos"/>
              </a:rPr>
              <a:t>Where to extend this deck for a talk or paper meeting.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070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F262D"/>
                </a:solidFill>
                <a:latin typeface="Aptos"/>
              </a:defRPr>
            </a:pPr>
            <a:r>
              <a:t>Add one architecture figure for `NN_KNN_Model` and `GlocalFeatureWeight`.</a:t>
            </a:r>
          </a:p>
          <a:p>
            <a:pPr>
              <a:spcAft>
                <a:spcPts val="900"/>
              </a:spcAft>
              <a:defRPr sz="2000">
                <a:solidFill>
                  <a:srgbClr val="1F262D"/>
                </a:solidFill>
                <a:latin typeface="Aptos"/>
              </a:defRPr>
            </a:pPr>
            <a:r>
              <a:t>Add a Table 1 result slide after the next full k-fold run.</a:t>
            </a:r>
          </a:p>
          <a:p>
            <a:pPr>
              <a:spcAft>
                <a:spcPts val="900"/>
              </a:spcAft>
              <a:defRPr sz="2000">
                <a:solidFill>
                  <a:srgbClr val="1F262D"/>
                </a:solidFill>
                <a:latin typeface="Aptos"/>
              </a:defRPr>
            </a:pPr>
            <a:r>
              <a:t>Add RL learning curves only after a solved or clearly plateaued fixed-budget run.</a:t>
            </a:r>
          </a:p>
          <a:p>
            <a:pPr>
              <a:spcAft>
                <a:spcPts val="900"/>
              </a:spcAft>
              <a:defRPr sz="2000">
                <a:solidFill>
                  <a:srgbClr val="1F262D"/>
                </a:solidFill>
                <a:latin typeface="Aptos"/>
              </a:defRPr>
            </a:pPr>
            <a:r>
              <a:t>Add qualitative retrieval examples for Iris/Zebra and one regression dataset.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92240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0697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